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12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0312F"/>
                </a:solidFill>
                <a:latin typeface="Arial"/>
              </a:rPr>
              <a:t>Hours per member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Done (h)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Abdullah</c:v>
                  </c:pt>
                  <c:pt idx="1">
                    <c:v>Umair</c:v>
                  </c:pt>
                  <c:pt idx="2">
                    <c:v>Talha</c:v>
                  </c:pt>
                  <c:pt idx="3">
                    <c:v>Waleed</c:v>
                  </c:pt>
                  <c:pt idx="4">
                    <c:v>Yousaf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29</c:v>
                </c:pt>
                <c:pt idx="2">
                  <c:v>28</c:v>
                </c:pt>
                <c:pt idx="3">
                  <c:v>30</c:v>
                </c:pt>
                <c:pt idx="4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(h)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Abdullah</c:v>
                  </c:pt>
                  <c:pt idx="1">
                    <c:v>Umair</c:v>
                  </c:pt>
                  <c:pt idx="2">
                    <c:v>Talha</c:v>
                  </c:pt>
                  <c:pt idx="3">
                    <c:v>Waleed</c:v>
                  </c:pt>
                  <c:pt idx="4">
                    <c:v>Yousaf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12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0312F"/>
                </a:solidFill>
                <a:latin typeface="Arial"/>
              </a:rPr>
              <a:t>Burndown (hours remaining)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19</c:v>
                  </c:pt>
                  <c:pt idx="1">
                    <c:v>20</c:v>
                  </c:pt>
                  <c:pt idx="2">
                    <c:v>21</c:v>
                  </c:pt>
                  <c:pt idx="3">
                    <c:v>22</c:v>
                  </c:pt>
                  <c:pt idx="4">
                    <c:v>23</c:v>
                  </c:pt>
                  <c:pt idx="5">
                    <c:v>24</c:v>
                  </c:pt>
                  <c:pt idx="6">
                    <c:v>25</c:v>
                  </c:pt>
                  <c:pt idx="7">
                    <c:v>26</c:v>
                  </c:pt>
                  <c:pt idx="8">
                    <c:v>27</c:v>
                  </c:pt>
                  <c:pt idx="9">
                    <c:v>28</c:v>
                  </c:pt>
                  <c:pt idx="10">
                    <c:v>29</c:v>
                  </c:pt>
                  <c:pt idx="11">
                    <c:v>30</c:v>
                  </c:pt>
                  <c:pt idx="12">
                    <c:v>31</c:v>
                  </c:pt>
                  <c:pt idx="13">
                    <c:v>01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166</c:v>
                </c:pt>
                <c:pt idx="1">
                  <c:v>153.2</c:v>
                </c:pt>
                <c:pt idx="2">
                  <c:v>140.5</c:v>
                </c:pt>
                <c:pt idx="3">
                  <c:v>127.7</c:v>
                </c:pt>
                <c:pt idx="4">
                  <c:v>114.9</c:v>
                </c:pt>
                <c:pt idx="5">
                  <c:v>102.2</c:v>
                </c:pt>
                <c:pt idx="6">
                  <c:v>89.4</c:v>
                </c:pt>
                <c:pt idx="7">
                  <c:v>76.6</c:v>
                </c:pt>
                <c:pt idx="8">
                  <c:v>63.8</c:v>
                </c:pt>
                <c:pt idx="9">
                  <c:v>51.1</c:v>
                </c:pt>
                <c:pt idx="10">
                  <c:v>38.3</c:v>
                </c:pt>
                <c:pt idx="11">
                  <c:v>25.5</c:v>
                </c:pt>
                <c:pt idx="12">
                  <c:v>12.8</c:v>
                </c:pt>
                <c:pt idx="1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19</c:v>
                  </c:pt>
                  <c:pt idx="1">
                    <c:v>20</c:v>
                  </c:pt>
                  <c:pt idx="2">
                    <c:v>21</c:v>
                  </c:pt>
                  <c:pt idx="3">
                    <c:v>22</c:v>
                  </c:pt>
                  <c:pt idx="4">
                    <c:v>23</c:v>
                  </c:pt>
                  <c:pt idx="5">
                    <c:v>24</c:v>
                  </c:pt>
                  <c:pt idx="6">
                    <c:v>25</c:v>
                  </c:pt>
                  <c:pt idx="7">
                    <c:v>26</c:v>
                  </c:pt>
                  <c:pt idx="8">
                    <c:v>27</c:v>
                  </c:pt>
                  <c:pt idx="9">
                    <c:v>28</c:v>
                  </c:pt>
                  <c:pt idx="10">
                    <c:v>29</c:v>
                  </c:pt>
                  <c:pt idx="11">
                    <c:v>30</c:v>
                  </c:pt>
                  <c:pt idx="12">
                    <c:v>31</c:v>
                  </c:pt>
                  <c:pt idx="13">
                    <c:v>01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163</c:v>
                </c:pt>
                <c:pt idx="1">
                  <c:v>157</c:v>
                </c:pt>
                <c:pt idx="2">
                  <c:v>149</c:v>
                </c:pt>
                <c:pt idx="3">
                  <c:v>120</c:v>
                </c:pt>
                <c:pt idx="4">
                  <c:v>92</c:v>
                </c:pt>
                <c:pt idx="5">
                  <c:v>44</c:v>
                </c:pt>
                <c:pt idx="6">
                  <c:v>18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Muhammad Abdullah Malik. Introduce the team and say the presentation will be done live in the project management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Abdullah. HMS = browser -&gt; Python server -&gt; SQLite database. Three validation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Abdullah. Each member owns one area so work does not collide. Umair is Product Owner, Abdullah Scrum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Umair (Product Owner). Show the Backlog view in the tool. Order = dependencies first, then Must, Should, Could. Items 19-22 stay in the backlog for later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Umair. Read the goal. 14 days, 166 hours of tasks for 5 people, review 31 Oct, retrospective 1 Nov. Definition of Done is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Umair. Open the Sprint Backlog in the tool. Each story has acceptance criteria written by the Product Owner and tasks owned by team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Umair. Pick two stories and read the criteria. Say how each will be tested in the Sprint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Abdullah. Each story is cut into tasks of 2-7 hours. Workload is balanced: 32-35 hours each. Done tasks are spread across all five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Talha. Bars show planned start to due date for each area. The database and server (T-01 to T-04) come first because every module depends on them. Critical path is on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Talha. 166 hours committed, 148 done at the snapshot. Hours per person are balanced. Burndown is below the ideal line, meaning the team is ahead of plan; remaining items are review, QA and board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Waleed. SWITCH TO THE TOOL here and show the live board. Done column has 36 cards: 7 each for Abdullah, Umair, Talha, Waleed and 8 for Yousaf.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Yousaf. Then run the live demo following HMS/PRESENTATION_GUIDE.md: login, add patient, FK refusal, book appointment, vitals validation, invoice, dispensing,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members. Each member should be able to explain the risk in their own area. Owner column shows who watches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members. Open the project tool, then take questions. Each member answers about their own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0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</a:rPr>
              <a:t>HMS | Sprint 1 Planning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 | SPRINT PLANNING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 (HMS)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19 Oct 2026 to 01 Nov 2026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 Malik  |  Umair Qaisar  |  Talha Azeem  |  Waleed Ali  |  Muhammad Yousaf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Project overview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paper / separate tools with one system for patients, doctors, appointments, records, bills and medicines.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correct with three validation layers: browser, Python server, database constraints.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staff dashboard, alerts, search and reports so they can see what needs attention.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quality with automatic tests (86 API checks, 48 schema checks, 44 browser checks).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(HMS/)  &gt;  server.py  &gt;  SQLite (hms.db)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64608" y="1325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325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search, edit, view patients and their history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801368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64608" y="18013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records, departments, weekly schedules, fees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276856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64608" y="227685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2768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 slots, double-booking prevention, week calendar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2752344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64608" y="275234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7523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Visits, diagnosis, vitals, prescriptions, follow-ups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3227832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64608" y="3227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2278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with live totals, discount, tax, payment status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370332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64608" y="3703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3703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stock, expiry warnings, dispensing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4178808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64608" y="41788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09360" y="4178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dashboard, reports, notifications, global search, audit log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Scrum team and roles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554480" cy="3063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 Malik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+ Developer (Team Lead)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889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F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Sprint ceremonies, removes blockers, keeps the board current. Builds database, server.py, login, audit log and API tests.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103120" y="1005840"/>
            <a:ext cx="1554480" cy="3063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1430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060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Qaisar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+ Developer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27889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F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prioritises the Product Backlog, writes acceptance criteria, accepts finished stories. Builds Patient module, login page and global search.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49040" y="1005840"/>
            <a:ext cx="1554480" cy="3063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14300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519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Azeem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27889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F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Doctor Management and Appointments (booking, slots, calendar, double-booking warning).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394960" y="1005840"/>
            <a:ext cx="1554480" cy="3063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97880" y="114300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978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Waleed Ali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0" y="27889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F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Medical Records (vitals, prescriptions) and Billing (invoices, live totals, payments).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040880" y="1005840"/>
            <a:ext cx="1554480" cy="3063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43800" y="1143000"/>
            <a:ext cx="548640" cy="548640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43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Yousaf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QA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27889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F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Pharmacy, Dashboard, Notifications, Reports and the browser self-test / final regression run.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Product Backlog (prioritised)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731520"/>
                <a:gridCol w="3749040"/>
                <a:gridCol w="1188720"/>
                <a:gridCol w="548640"/>
                <a:gridCol w="16459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 (short)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database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register / edit /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 and departments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appointments, no double-booking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records with vitals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Invoices, live totals,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stock and expiry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Dispensing reduces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/ email reminders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PDF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online hosting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11 to 18 (Should / Could stories, 28 pts) are also in Sprint 1; see the tool.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Sprint Goal and duration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0312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working, testable HMS Increment: a staff member can log in and manage patients, doctors, appointments (no double-booking), medical records, billing and pharmacy stock, with every change stored in the SQLite database and covered by automatic tests.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313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days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 2026 - 01 Nov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22402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2313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 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tasks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410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pts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user stories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68880" y="3337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60320" y="3410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Oct / 1 Nov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Retrospective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25146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works in Chrome/Edge against the real database (no localStorage data).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validation, server rule and database constraint all behave as specified.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demonstrated to the Product Owner.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tests pass (tests/test_api.py, HMS_DB/verify_schema.py, selftest.html).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team member has reviewed the code (In Review column) before Done.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Sprint Backlog: 18 user stories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36576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database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Abdullah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Abdullah, Umair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register / edit /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 and departments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appointments, no double-booking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Abdullah, Talha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records with vitals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Invoices, live totals,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stock and expiry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Yousaf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Dispensing reduces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Yousaf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36576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Abdullah, Yousaf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profile 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schedules, available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Prescriptions in a visit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with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Talha, Yousaf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Yousaf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Abdullah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(read / unread)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Yousaf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has acceptance criteria and at least two tasks of 2-7 hours.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Acceptance criteria (key stories)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PB-02  Patient register / edit / search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3716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(first name, phone, date of birth) and formats are validated before saving.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patient appears as a new row in the patients table.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patient who has appointments is refused by the database (foreign key RESTRICT).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96012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PB-06  Book appointments, no double-booking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3716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list depends on the chosen department; time slots are offered for the chosen date.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 already booked slot shows a warning in the form.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form is bypassed, the database refuses two active appointments for the same doctor, date and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PB-09  Invoices, live totals, payments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supports several item rows; subtotal, discount, tax and total update live.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stored as separate rows; total is computed by a view, never stored.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(unpaid / partial / paid) is saved and shown.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PB-11  Dispensing reduces stock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writes a history row and reduces medicines.quantity.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more than the available stock is refused by the server.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Task breakdown and allocation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1554480" cy="37033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9601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0352" y="9784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1572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tasks | 35 h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done (30 h)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103120"/>
            <a:ext cx="1417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16-table schema with keys and CHECK constraints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ER diagram and write sample_data.sql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verify_schema.py and database report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server.py: web server, JSON API skeleton, login with salted hash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03120" y="960120"/>
            <a:ext cx="1554480" cy="37033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03120" y="9601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76272" y="9784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Search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176272" y="1572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tasks | 33 h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176272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done (29 h)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176272" y="2103120"/>
            <a:ext cx="1417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UI with validation messages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form + browser validation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list: search, filter, edit, delete with FK refusal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patient endpoints and storage.js mapping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49040" y="960120"/>
            <a:ext cx="1554480" cy="37033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9601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22192" y="9784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&amp; Appointments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822192" y="1572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tasks | 33 h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822192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done (28 h)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822192" y="2103120"/>
            <a:ext cx="1417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form and list with department filter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doctor + department endpoints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 rows and 'Available today' filter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 page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94960" y="960120"/>
            <a:ext cx="1554480" cy="37033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94960" y="9601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68112" y="9784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Waleed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Billing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68112" y="1572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tasks | 32 h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68112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done (30 h)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68112" y="2103120"/>
            <a:ext cx="1417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 form with vitals, BP as two numbers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range validation and systolic &gt; diastolic rule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rows inside a medical record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 view and follow-up date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040880" y="960120"/>
            <a:ext cx="1554480" cy="37033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40880" y="9601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14032" y="9784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Yousaf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Dashboard &amp; QA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114032" y="1572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tasks | 33 h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114032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done (31 h)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114032" y="2103120"/>
            <a:ext cx="1417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form and stock list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and low-stock warnings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form that reduces stock and writes history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refusal when quantity exceeds stock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Scheduling and dependencies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2377440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2377440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828109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828109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78777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78777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29446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29446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80114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80114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30783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30783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81451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81451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32120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32120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82789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82789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33457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33457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84126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84126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34794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34794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85463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85463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36131" y="960120"/>
            <a:ext cx="4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236131" y="1234440"/>
            <a:ext cx="0" cy="2962656"/>
          </a:xfrm>
          <a:prstGeom prst="line">
            <a:avLst/>
          </a:prstGeom>
          <a:noFill/>
          <a:ln w="6350">
            <a:solidFill>
              <a:srgbClr val="E3EE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960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19 - Nov 1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12344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login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377440" y="1298448"/>
            <a:ext cx="2253343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423160" y="1298448"/>
            <a:ext cx="21619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15636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search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278777" y="1627632"/>
            <a:ext cx="2704011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324497" y="1627632"/>
            <a:ext cx="26125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18928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278777" y="1956816"/>
            <a:ext cx="1802674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24497" y="1956816"/>
            <a:ext cx="1711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22219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729446" y="2286000"/>
            <a:ext cx="2253343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775166" y="2286000"/>
            <a:ext cx="21619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255117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729446" y="2615184"/>
            <a:ext cx="1352006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775166" y="2615184"/>
            <a:ext cx="12605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457200" y="2880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29446" y="2944368"/>
            <a:ext cx="1802674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775166" y="2944368"/>
            <a:ext cx="1711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32095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278777" y="3273552"/>
            <a:ext cx="1802674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324497" y="3273552"/>
            <a:ext cx="1711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35387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reports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180114" y="3602736"/>
            <a:ext cx="2253343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225834" y="3602736"/>
            <a:ext cx="21619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457200" y="38679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4180114" y="3931920"/>
            <a:ext cx="3154680" cy="201168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225834" y="39319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5532120" y="1188720"/>
            <a:ext cx="0" cy="3054096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61" name="Text 58"/>
          <p:cNvSpPr txBox="1"/>
          <p:nvPr/>
        </p:nvSpPr>
        <p:spPr>
          <a:xfrm>
            <a:off x="5074920" y="4270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25 Oct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</a:t>
            </a:r>
            <a:pPr indent="0" marL="0">
              <a:buNone/>
            </a:pPr>
            <a:r>
              <a:rPr lang="en-US" sz="11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schema &gt; T-04 server and login &gt; module tasks &gt; T-47 browser self-test &gt; T-48 final regression 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Estimates and burndown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Scrum Board (snapshot 25 Oct)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960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 (2)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0352" y="1298448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35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  Import backlog and board into Jira/GitHub Projects, share workspace link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 |  2 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0352" y="2103120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T-18  Product Owner acceptance of the Increment at Sprint Review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151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 |  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42032" y="91440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33472" y="960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(3)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615184" y="1298448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79192" y="1335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T-08  Sprint admin: planning, daily scrum notes, keep board current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679192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 |  3 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15184" y="2103120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79192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T-28  Dashboard 'today's schedule' widget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2679192" y="26151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 |  3 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615184" y="2907792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79192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T-48  Final regression run on a clean machine; save results files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679192" y="34198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Yousaf  |  2 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26864" y="91440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18304" y="960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  (3)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00016" y="1298448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64024" y="1335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T-17  Quick View modal for a patient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4764024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 |  2 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00016" y="2103120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64024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T-27  Cancel / complete appointment status changes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4764024" y="26151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 |  2 h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0016" y="2907792"/>
            <a:ext cx="181965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64024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T-37  Peer code review of records and billing modules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764024" y="34198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Waleed  |  2 h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711696" y="91440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ECF8F6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03136" y="960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(36)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784848" y="1325880"/>
            <a:ext cx="181965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0" y="143560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214616" y="1325880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| 30 h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784848" y="1892808"/>
            <a:ext cx="181965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858000" y="200253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58000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214616" y="189280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| 29 h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784848" y="2459736"/>
            <a:ext cx="181965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858000" y="2569464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5800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7214616" y="2459736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| 28 h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784848" y="3026664"/>
            <a:ext cx="181965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858000" y="3136392"/>
            <a:ext cx="274320" cy="2743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8580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214616" y="3026664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Waleed | 30 h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784848" y="3593592"/>
            <a:ext cx="181965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FE3E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858000" y="3703320"/>
            <a:ext cx="274320" cy="274320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8580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7214616" y="359359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Yousaf | 31 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Expected Sprint Increment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06984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03327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backed by the users table (salted password hash).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96012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55848" y="106984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103327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Patients: add, edit, view, search and delete; the database refuses deleting a patient with history.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96012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06984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44768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103327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Doctors: records, departments, weekly schedules, 'available today' filter.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1945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230428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226771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Appointments: department &gt; doctor &gt; date &gt; slot booking; double-booking blocked by form, server and database.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46120" y="21945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55848" y="230428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55848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749040" y="226771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records: vitals with range checks, prescriptions, patient history.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035040" y="21945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230428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44768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226771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invoices with live totals, discount, tax and payment status.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342900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" y="353872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6928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" y="350215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Pharmacy: stock, expiry warnings, dispensing that reduces stock.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46120" y="342900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55848" y="353872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355848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3749040" y="350215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notifications, reports, global search and audit log.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035040" y="342900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FE3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44768" y="353872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44768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537960" y="3502152"/>
            <a:ext cx="2084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tests: 86 API + 48 schema + 44 browser checks, all passing.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Risks and challenges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640080"/>
                <a:gridCol w="356616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Double-booking if two users book the same slot at the same moment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index in the database as final guard; server checks first; test in test_api.py.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/ 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lost or inconsistent between browser, server and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data layer (storage.js); foreign keys RESTRICT; Reset demo data button; audit_log.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depend on the database and server being ready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and server built first (T-01..T-04); others start after T-04; dependencies shown on the board.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members fall behind or are unavailable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scrum, tasks of 2-7 hours, pair review, Scrum Master reassigns blocked work.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(roles, SMS reminders, PDF export, PostgreSQL)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in the Product Backlog (PB-19..PB-22); Product Owner decides; not in this Sprint.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fails on another computer (Python version, port 8000 busy)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library only; start scripts for Win/Mac/Linux; port can be changed; rehearsal on a clean machine (T-48).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validation between browser and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rules in validation.js; same rules re-checked in server.py and CHECK constraints; tests for each.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 / UQ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workspace link: PASTE-YOUR-JIRA-OR-GITHUB-PROJECTS-LINK-HERE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Backlog, Sprint Backlog and Board live in the tool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10:00 (15 min); Sprint Review 31 Oct 2026; Retrospective 01 Nov 2026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items: T-09 workspace import, T-17/T-27/T-37 reviews, T-28 widget, T-48 final regression run, T-18 PO acceptance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are ready to justify the scope, estimates, allocations and deliverables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MS Sprint">
  <a:themeElements>
    <a:clrScheme name="HMS Sprint">
      <a:dk1>
        <a:srgbClr val="10312F"/>
      </a:dk1>
      <a:lt1>
        <a:srgbClr val="FFFFFF"/>
      </a:lt1>
      <a:dk2>
        <a:srgbClr val="0B4F4A"/>
      </a:dk2>
      <a:lt2>
        <a:srgbClr val="ECF8F6"/>
      </a:lt2>
      <a:accent1>
        <a:srgbClr val="0F766E"/>
      </a:accent1>
      <a:accent2>
        <a:srgbClr val="F59E0B"/>
      </a:accent2>
      <a:accent3>
        <a:srgbClr val="7C3AED"/>
      </a:accent3>
      <a:accent4>
        <a:srgbClr val="C2410C"/>
      </a:accent4>
      <a:accent5>
        <a:srgbClr val="1D4ED8"/>
      </a:accent5>
      <a:accent6>
        <a:srgbClr val="BE185D"/>
      </a:accent6>
      <a:hlink>
        <a:srgbClr val="0F766E"/>
      </a:hlink>
      <a:folHlink>
        <a:srgbClr val="7C3AED"/>
      </a:folHlink>
    </a:clrScheme>
    <a:fontScheme name="HMS Spri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HMS Sprint Planning</dc:title>
  <dc:subject>PptxGenJS Presentation</dc:subject>
  <dc:creator>HMS Team</dc:creator>
  <cp:lastModifiedBy>HMS Team</cp:lastModifiedBy>
  <cp:revision>1</cp:revision>
  <dcterms:created xsi:type="dcterms:W3CDTF">2026-10-25T13:41:28Z</dcterms:created>
  <dcterms:modified xsi:type="dcterms:W3CDTF">2026-10-25T13:41:28Z</dcterms:modified>
</cp:coreProperties>
</file>